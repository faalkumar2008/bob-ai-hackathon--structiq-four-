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49b47d3dfc04307" /><Relationship Type="http://schemas.openxmlformats.org/package/2006/relationships/metadata/core-properties" Target="/docProps/core.xml" Id="R7a05852fe80c42f8" /><Relationship Type="http://schemas.openxmlformats.org/officeDocument/2006/relationships/extended-properties" Target="/docProps/app.xml" Id="Ra5114389d9eb47aa" /><Relationship Type="http://schemas.openxmlformats.org/officeDocument/2006/relationships/custom-properties" Target="/docProps/custom.xml" Id="R57bca6c79fc54cb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005bae491eb4414"/>
  </p:notesMasterIdLst>
  <p:sldIdLst>
    <p:sldId id="256" r:id="Ref05f7c31065475b"/>
    <p:sldId id="257" r:id="R2a048cb0f8874cb6"/>
    <p:sldId id="258" r:id="Rf5219a72788d4e6b"/>
    <p:sldId id="259" r:id="R7e98165090dc4d02"/>
    <p:sldId id="260" r:id="R2b2e18865f964a20"/>
    <p:sldId id="261" r:id="Rb79d00c60a8d4eaa"/>
    <p:sldId id="262" r:id="R40ae74f478054772"/>
    <p:sldId id="263" r:id="R89c0db46f8a5448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f05f7c31065475b" /><Relationship Type="http://schemas.openxmlformats.org/officeDocument/2006/relationships/notesMaster" Target="/ppt/notesMasters/notesMaster1.xml" Id="Rb005bae491eb4414" /><Relationship Type="http://schemas.openxmlformats.org/officeDocument/2006/relationships/slide" Target="/ppt/slides/slide2.xml" Id="R2a048cb0f8874cb6" /><Relationship Type="http://schemas.openxmlformats.org/officeDocument/2006/relationships/slide" Target="/ppt/slides/slide3.xml" Id="Rf5219a72788d4e6b" /><Relationship Type="http://schemas.openxmlformats.org/officeDocument/2006/relationships/slide" Target="/ppt/slides/slide4.xml" Id="R7e98165090dc4d02" /><Relationship Type="http://schemas.openxmlformats.org/officeDocument/2006/relationships/slide" Target="/ppt/slides/slide5.xml" Id="R2b2e18865f964a20" /><Relationship Type="http://schemas.openxmlformats.org/officeDocument/2006/relationships/slide" Target="/ppt/slides/slide6.xml" Id="Rb79d00c60a8d4eaa" /><Relationship Type="http://schemas.openxmlformats.org/officeDocument/2006/relationships/slide" Target="/ppt/slides/slide7.xml" Id="R40ae74f478054772" /><Relationship Type="http://schemas.openxmlformats.org/officeDocument/2006/relationships/slide" Target="/ppt/slides/slide8.xml" Id="R89c0db46f8a544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d08a2ddd35492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b05230eeb24c39" /><Relationship Type="http://schemas.openxmlformats.org/officeDocument/2006/relationships/slide" Target="/ppt/slides/slide1.xml" Id="R1ccec89ff9f14c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83ca9892874274" /><Relationship Type="http://schemas.openxmlformats.org/officeDocument/2006/relationships/slide" Target="/ppt/slides/slide2.xml" Id="R70c5b48981fc43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fb0efbaac2b4c2d" /><Relationship Type="http://schemas.openxmlformats.org/officeDocument/2006/relationships/slide" Target="/ppt/slides/slide3.xml" Id="Rdc2493057f1d43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5c92cd5c024301" /><Relationship Type="http://schemas.openxmlformats.org/officeDocument/2006/relationships/slide" Target="/ppt/slides/slide4.xml" Id="R18e770e143c8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3d10ab6e284461" /><Relationship Type="http://schemas.openxmlformats.org/officeDocument/2006/relationships/slide" Target="/ppt/slides/slide5.xml" Id="R9fe11873d86f48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c27b850a08649f8" /><Relationship Type="http://schemas.openxmlformats.org/officeDocument/2006/relationships/slide" Target="/ppt/slides/slide6.xml" Id="Ra8e4d3e3aa32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18a1ba22f9440f" /><Relationship Type="http://schemas.openxmlformats.org/officeDocument/2006/relationships/slide" Target="/ppt/slides/slide7.xml" Id="Re8d768d61cf9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ee15799933a4161" /><Relationship Type="http://schemas.openxmlformats.org/officeDocument/2006/relationships/slide" Target="/ppt/slides/slide8.xml" Id="R35f4f6db21f0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Project: ARIA — Bridge Health Monitoring and Predictive Maintenance Assistant. IBM Bob AI integration with MCP server, custom mode, and skill.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— Problem. Key stats: 42% of US bridges are 50+ years old. $123B maintenance backlog. Inspections only every 2 years. Zero real-time early-warning systems. The I-35W collapse killed 13 people with no prior warning.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— Solution. Five pillars: IoT sensors → AI anomaly detection → Predictive RUL modelling → IBM Bob AI integration → Prioritised maintenance. All connected in a single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— Architecture. 4 layers: IoT sensors → MCP server (9 tools, TypeScript) → IBM Bob AI (mode + skill + MCP registration) → Web dashboard (SPA, zero external dependencies). All fully integrated.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 — Key Feature Demo. The dashboard shows real-time KPIs for BRG-001: health score 62/100, RESTRICTED status, 3 active alerts. Sensors update every 8 seconds. Anomaly detection highlights the most critical issues automatically.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 — IBM Technologies. Three Bob components working together: (1) Custom mode bridge-monitor gives ARIA her persona and permissions. (2) Skill bridge-health-analysis provides the 9-step analysis workflow. (3) MCP server exposes 9 tools Bob can call directly to fetch sensor data and run models.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 — Results and Impact. Key metrics: 60% cost reduction, sub-1-second alert response, 80% failure probability reduction, 24/7 monitoring vs 2-year inspection cycles. Compliant with 6 international bridge engineering standards.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 — Team. Replace the placeholder names with your real team members. Each card shows role and what they built. Bottom links reference the repo and app.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d5f4b259243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24f742fd04c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f2ea63f634c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768993e6348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a8e7584fc4be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f802eb73506480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b734ee34043e6" /><Relationship Type="http://schemas.openxmlformats.org/officeDocument/2006/relationships/notesSlide" Target="/ppt/notesSlides/notesSlide1.xml" Id="R223753026b1247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0e3607de44c2c" /><Relationship Type="http://schemas.openxmlformats.org/officeDocument/2006/relationships/notesSlide" Target="/ppt/notesSlides/notesSlide2.xml" Id="Rb44caa3153954a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97cbf9eb64469" /><Relationship Type="http://schemas.openxmlformats.org/officeDocument/2006/relationships/notesSlide" Target="/ppt/notesSlides/notesSlide3.xml" Id="Rca7928fe59f5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dc3b7aad34517" /><Relationship Type="http://schemas.openxmlformats.org/officeDocument/2006/relationships/notesSlide" Target="/ppt/notesSlides/notesSlide4.xml" Id="Rbc3ae6fd451a42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960be3e7b4ec0" /><Relationship Type="http://schemas.openxmlformats.org/officeDocument/2006/relationships/notesSlide" Target="/ppt/notesSlides/notesSlide5.xml" Id="R7bee67772670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b3d615434e99" /><Relationship Type="http://schemas.openxmlformats.org/officeDocument/2006/relationships/notesSlide" Target="/ppt/notesSlides/notesSlide6.xml" Id="Rff0109d21c81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28b6c04f4c9d" /><Relationship Type="http://schemas.openxmlformats.org/officeDocument/2006/relationships/notesSlide" Target="/ppt/notesSlides/notesSlide7.xml" Id="R3d4c591375fa45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116483eb4f01" /><Relationship Type="http://schemas.openxmlformats.org/officeDocument/2006/relationships/notesSlide" Target="/ppt/notesSlides/notesSlide8.xml" Id="Rd212601fee5940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B82F6"/>
              </a:solidFill>
            </a:endParaRPr>
          </a:p>
        </p:txBody>
      </p:sp>
      <p:sp>
        <p:nvSpPr>
          <p:cNvPr id="100001" name="TagLine"/>
          <p:cNvSpPr txBox="1"/>
          <p:nvPr/>
        </p:nvSpPr>
        <p:spPr>
          <a:xfrm xmlns:a="http://schemas.openxmlformats.org/drawingml/2006/main">
            <a:off x="720000" y="432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B82F6"/>
                </a:solidFill>
              </a:rPr>
              <a:t>IBM BOB AI MODULE  |  HACKATHON 2025</a:t>
            </a:r>
          </a:p>
        </p:txBody>
      </p:sp>
      <p:sp>
        <p:nvSpPr>
          <p:cNvPr id="100002" name="MainTitle"/>
          <p:cNvSpPr txBox="1"/>
          <p:nvPr/>
        </p:nvSpPr>
        <p:spPr>
          <a:xfrm xmlns:a="http://schemas.openxmlformats.org/drawingml/2006/main">
            <a:off x="720000" y="864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200" b="1">
                <a:solidFill>
                  <a:srgbClr val="FFFFFF"/>
                </a:solidFill>
              </a:rPr>
              <a:t>ARIA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720000" y="1980000"/>
            <a:ext cx="104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93C5FD"/>
                </a:solidFill>
              </a:rPr>
              <a:t>Autonomous Real-time Infrastructure Analyst</a:t>
            </a:r>
          </a:p>
        </p:txBody>
      </p:sp>
      <p:sp>
        <p:nvSpPr>
          <p:cNvPr id="100004" name="Desc"/>
          <p:cNvSpPr txBox="1"/>
          <p:nvPr/>
        </p:nvSpPr>
        <p:spPr>
          <a:xfrm xmlns:a="http://schemas.openxmlformats.org/drawingml/2006/main">
            <a:off x="720000" y="2556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8B949E"/>
                </a:solidFill>
              </a:rPr>
              <a:t>Bridge Health Monitoring &amp; Predictive Maintenance Assistant</a:t>
            </a:r>
          </a:p>
        </p:txBody>
      </p:sp>
      <p:sp>
        <p:nvSpPr>
          <p:cNvPr id="100005" name="TeamBox"/>
          <p:cNvSpPr txBox="1"/>
          <p:nvPr/>
        </p:nvSpPr>
        <p:spPr>
          <a:xfrm xmlns:a="http://schemas.openxmlformats.org/drawingml/2006/main">
            <a:off x="720000" y="324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6B7280"/>
                </a:solidFill>
              </a:rPr>
              <a:t>Team: InfraAI  |  Track: AI for Infrastructure &amp; Safety  |  Platform: IBM Bob AI + MCP Server</a:t>
            </a:r>
          </a:p>
        </p:txBody>
      </p:sp>
      <p:sp>
        <p:nvSpPr>
          <p:cNvPr id="100006" name="EmojiDeco"/>
          <p:cNvSpPr txBox="1"/>
          <p:nvPr/>
        </p:nvSpPr>
        <p:spPr>
          <a:xfrm xmlns:a="http://schemas.openxmlformats.org/drawingml/2006/main">
            <a:off x="9360000" y="1080000"/>
            <a:ext cx="18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600">
                <a:solidFill>
                  <a:srgbClr val="FFFFFF"/>
                </a:solidFill>
              </a:rPr>
              <a:t>🌉</a:t>
            </a:r>
          </a:p>
        </p:txBody>
      </p:sp>
      <p:sp>
        <p:nvSpPr>
          <p:cNvPr id="100007" name="BottomLine"/>
          <p:cNvSpPr txBox="1"/>
          <p:nvPr/>
        </p:nvSpPr>
        <p:spPr>
          <a:xfrm xmlns:a="http://schemas.openxmlformats.org/drawingml/2006/main">
            <a:off x="0" y="6660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0363D"/>
              </a:solidFill>
            </a:endParaRPr>
          </a:p>
        </p:txBody>
      </p:sp>
      <p:sp>
        <p:nvSpPr>
          <p:cNvPr id="100087" name="BottomAccent"/>
          <p:cNvSpPr txBox="1"/>
          <p:nvPr/>
        </p:nvSpPr>
        <p:spPr>
          <a:xfrm xmlns:a="http://schemas.openxmlformats.org/drawingml/2006/main">
            <a:off x="0" y="6732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B82F6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8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F4444"/>
              </a:solidFill>
            </a:endParaRPr>
          </a:p>
        </p:txBody>
      </p:sp>
      <p:sp>
        <p:nvSpPr>
          <p:cNvPr id="100009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02</a:t>
            </a:r>
          </a:p>
        </p:txBody>
      </p:sp>
      <p:sp>
        <p:nvSpPr>
          <p:cNvPr id="100010" name="SlideTitle"/>
          <p:cNvSpPr txBox="1"/>
          <p:nvPr/>
        </p:nvSpPr>
        <p:spPr>
          <a:xfrm xmlns:a="http://schemas.openxmlformats.org/drawingml/2006/main">
            <a:off x="720000" y="288000"/>
            <a:ext cx="72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00011" name="Stat1Box"/>
          <p:cNvSpPr txBox="1"/>
          <p:nvPr/>
        </p:nvSpPr>
        <p:spPr>
          <a:xfrm xmlns:a="http://schemas.openxmlformats.org/drawingml/2006/main">
            <a:off x="720000" y="1080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EF4444"/>
                </a:solidFill>
              </a:rPr>
              <a:t>42%</a:t>
            </a:r>
          </a:p>
        </p:txBody>
      </p:sp>
      <p:sp>
        <p:nvSpPr>
          <p:cNvPr id="100012" name="Stat1Label"/>
          <p:cNvSpPr txBox="1"/>
          <p:nvPr/>
        </p:nvSpPr>
        <p:spPr>
          <a:xfrm xmlns:a="http://schemas.openxmlformats.org/drawingml/2006/main">
            <a:off x="720000" y="2196000"/>
            <a:ext cx="23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of US bridges are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50+ years old</a:t>
            </a:r>
          </a:p>
        </p:txBody>
      </p:sp>
      <p:sp>
        <p:nvSpPr>
          <p:cNvPr id="100013" name="Stat2Box"/>
          <p:cNvSpPr txBox="1"/>
          <p:nvPr/>
        </p:nvSpPr>
        <p:spPr>
          <a:xfrm xmlns:a="http://schemas.openxmlformats.org/drawingml/2006/main">
            <a:off x="3420000" y="1080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97316"/>
                </a:solidFill>
              </a:rPr>
              <a:t>$123B</a:t>
            </a:r>
          </a:p>
        </p:txBody>
      </p:sp>
      <p:sp>
        <p:nvSpPr>
          <p:cNvPr id="100014" name="Stat2Label"/>
          <p:cNvSpPr txBox="1"/>
          <p:nvPr/>
        </p:nvSpPr>
        <p:spPr>
          <a:xfrm xmlns:a="http://schemas.openxmlformats.org/drawingml/2006/main">
            <a:off x="3420000" y="2196000"/>
            <a:ext cx="23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Annual maintenance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backlog (USA)</a:t>
            </a:r>
          </a:p>
        </p:txBody>
      </p:sp>
      <p:sp>
        <p:nvSpPr>
          <p:cNvPr id="100015" name="Stat3Box"/>
          <p:cNvSpPr txBox="1"/>
          <p:nvPr/>
        </p:nvSpPr>
        <p:spPr>
          <a:xfrm xmlns:a="http://schemas.openxmlformats.org/drawingml/2006/main">
            <a:off x="6120000" y="1080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59E0B"/>
                </a:solidFill>
              </a:rPr>
              <a:t>2 yrs</a:t>
            </a:r>
          </a:p>
        </p:txBody>
      </p:sp>
      <p:sp>
        <p:nvSpPr>
          <p:cNvPr id="100016" name="Stat3Label"/>
          <p:cNvSpPr txBox="1"/>
          <p:nvPr/>
        </p:nvSpPr>
        <p:spPr>
          <a:xfrm xmlns:a="http://schemas.openxmlformats.org/drawingml/2006/main">
            <a:off x="6120000" y="2196000"/>
            <a:ext cx="23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Between manual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inspections — too slow</a:t>
            </a:r>
          </a:p>
        </p:txBody>
      </p:sp>
      <p:sp>
        <p:nvSpPr>
          <p:cNvPr id="100017" name="Stat4Box"/>
          <p:cNvSpPr txBox="1"/>
          <p:nvPr/>
        </p:nvSpPr>
        <p:spPr>
          <a:xfrm xmlns:a="http://schemas.openxmlformats.org/drawingml/2006/main">
            <a:off x="8820000" y="108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8B949E"/>
                </a:solidFill>
              </a:rPr>
              <a:t>0</a:t>
            </a:r>
          </a:p>
        </p:txBody>
      </p:sp>
      <p:sp>
        <p:nvSpPr>
          <p:cNvPr id="100018" name="Stat4Label"/>
          <p:cNvSpPr txBox="1"/>
          <p:nvPr/>
        </p:nvSpPr>
        <p:spPr>
          <a:xfrm xmlns:a="http://schemas.openxmlformats.org/drawingml/2006/main">
            <a:off x="8820000" y="2196000"/>
            <a:ext cx="25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Real-time early warning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systems deployed</a:t>
            </a:r>
          </a:p>
        </p:txBody>
      </p:sp>
      <p:sp>
        <p:nvSpPr>
          <p:cNvPr id="100019" name="BottomText"/>
          <p:cNvSpPr txBox="1"/>
          <p:nvPr/>
        </p:nvSpPr>
        <p:spPr>
          <a:xfrm xmlns:a="http://schemas.openxmlformats.org/drawingml/2006/main">
            <a:off x="720000" y="2880000"/>
            <a:ext cx="104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6B7280"/>
                </a:solidFill>
              </a:rPr>
              <a:t>Visual inspections miss sub-surface fatigue cracks, corrosion, and delamination. Without continuous monitoring, failures like the I-35W Bridge collapse (2007, 13 fatalities) occur with zero warning.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20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2C55E"/>
              </a:solidFill>
            </a:endParaRPr>
          </a:p>
        </p:txBody>
      </p:sp>
      <p:sp>
        <p:nvSpPr>
          <p:cNvPr id="100021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03</a:t>
            </a:r>
          </a:p>
        </p:txBody>
      </p:sp>
      <p:sp>
        <p:nvSpPr>
          <p:cNvPr id="100022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Our Solution — ARIA</a:t>
            </a:r>
          </a:p>
        </p:txBody>
      </p:sp>
      <p:sp>
        <p:nvSpPr>
          <p:cNvPr id="100023" name="Pillar1"/>
          <p:cNvSpPr txBox="1"/>
          <p:nvPr/>
        </p:nvSpPr>
        <p:spPr>
          <a:xfrm xmlns:a="http://schemas.openxmlformats.org/drawingml/2006/main">
            <a:off x="720000" y="108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📡  IoT Sensor Network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Strain · Vibration · Displacement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Corrosion · Temperature · Load</a:t>
            </a:r>
          </a:p>
        </p:txBody>
      </p:sp>
      <p:sp>
        <p:nvSpPr>
          <p:cNvPr id="100024" name="Arrow1"/>
          <p:cNvSpPr txBox="1"/>
          <p:nvPr/>
        </p:nvSpPr>
        <p:spPr>
          <a:xfrm xmlns:a="http://schemas.openxmlformats.org/drawingml/2006/main">
            <a:off x="4212000" y="180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00025" name="Pillar2"/>
          <p:cNvSpPr txBox="1"/>
          <p:nvPr/>
        </p:nvSpPr>
        <p:spPr>
          <a:xfrm xmlns:a="http://schemas.openxmlformats.org/drawingml/2006/main">
            <a:off x="4680000" y="108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⚠️  AI Anomaly Detection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Z-score statistical analysis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Real-time threshold monitoring</a:t>
            </a:r>
          </a:p>
        </p:txBody>
      </p:sp>
      <p:sp>
        <p:nvSpPr>
          <p:cNvPr id="100026" name="Arrow2"/>
          <p:cNvSpPr txBox="1"/>
          <p:nvPr/>
        </p:nvSpPr>
        <p:spPr>
          <a:xfrm xmlns:a="http://schemas.openxmlformats.org/drawingml/2006/main">
            <a:off x="8172000" y="180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00027" name="Pillar3"/>
          <p:cNvSpPr txBox="1"/>
          <p:nvPr/>
        </p:nvSpPr>
        <p:spPr>
          <a:xfrm xmlns:a="http://schemas.openxmlformats.org/drawingml/2006/main">
            <a:off x="8640000" y="1080000"/>
            <a:ext cx="27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🔮  Predictive RUL Model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Paris-law Fatigue</a:t>
            </a:r>
          </a:p>
          <a:p xmlns:a="http://schemas.openxmlformats.org/drawingml/2006/main">
            <a:r>
              <a:rPr lang="en-US" sz="1800">
                <a:solidFill>
                  <a:srgbClr val="E6EDF3"/>
                </a:solidFill>
              </a:rPr>
              <a:t>Faraday Corrosion · Settlement</a:t>
            </a:r>
          </a:p>
        </p:txBody>
      </p:sp>
      <p:sp>
        <p:nvSpPr>
          <p:cNvPr id="100028" name="BobBox"/>
          <p:cNvSpPr txBox="1"/>
          <p:nvPr/>
        </p:nvSpPr>
        <p:spPr>
          <a:xfrm xmlns:a="http://schemas.openxmlformats.org/drawingml/2006/main">
            <a:off x="720000" y="324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3C5FD"/>
                </a:solidFill>
              </a:rPr>
              <a:t>🤖  IBM Bob AI</a:t>
            </a:r>
          </a:p>
          <a:p xmlns:a="http://schemas.openxmlformats.org/drawingml/2006/main">
            <a:r>
              <a:rPr lang="en-US" sz="2000">
                <a:solidFill>
                  <a:srgbClr val="93C5FD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93C5FD"/>
                </a:solidFill>
              </a:rPr>
              <a:t>Custom Mode (ARIA)  ·  9-Step Skill  ·  9 MCP Tools</a:t>
            </a:r>
          </a:p>
          <a:p xmlns:a="http://schemas.openxmlformats.org/drawingml/2006/main">
            <a:r>
              <a:rPr lang="en-US" sz="2000">
                <a:solidFill>
                  <a:srgbClr val="93C5FD"/>
                </a:solidFill>
              </a:rPr>
              <a:t>Natural language queries  ·  Automated reports  ·  Maintenance plans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A855F7"/>
              </a:solidFill>
            </a:endParaRPr>
          </a:p>
        </p:txBody>
      </p:sp>
      <p:sp>
        <p:nvSpPr>
          <p:cNvPr id="100030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04</a:t>
            </a:r>
          </a:p>
        </p:txBody>
      </p:sp>
      <p:sp>
        <p:nvSpPr>
          <p:cNvPr id="100031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00032" name="Layer1"/>
          <p:cNvSpPr txBox="1"/>
          <p:nvPr/>
        </p:nvSpPr>
        <p:spPr>
          <a:xfrm xmlns:a="http://schemas.openxmlformats.org/drawingml/2006/main">
            <a:off x="720000" y="100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A855F7"/>
                </a:solidFill>
              </a:rPr>
              <a:t>LAYER 1 — DATA COLLECTION</a:t>
            </a:r>
          </a:p>
        </p:txBody>
      </p:sp>
      <p:sp>
        <p:nvSpPr>
          <p:cNvPr id="100033" name="Sensors"/>
          <p:cNvSpPr txBox="1"/>
          <p:nvPr/>
        </p:nvSpPr>
        <p:spPr>
          <a:xfrm xmlns:a="http://schemas.openxmlformats.org/drawingml/2006/main">
            <a:off x="720000" y="1260000"/>
            <a:ext cx="104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6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6EDF3"/>
                </a:solidFill>
              </a:rPr>
              <a:t>Strain Gauges  ·  Accelerometers  ·  LVDT Displacement  ·  Half-Cell Corrosion Probes  ·  WIM Load Cells</a:t>
            </a:r>
          </a:p>
        </p:txBody>
      </p:sp>
      <p:sp>
        <p:nvSpPr>
          <p:cNvPr id="100034" name="ArrowD1"/>
          <p:cNvSpPr txBox="1"/>
          <p:nvPr/>
        </p:nvSpPr>
        <p:spPr>
          <a:xfrm xmlns:a="http://schemas.openxmlformats.org/drawingml/2006/main">
            <a:off x="5400000" y="1692000"/>
            <a:ext cx="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↓</a:t>
            </a:r>
          </a:p>
        </p:txBody>
      </p:sp>
      <p:sp>
        <p:nvSpPr>
          <p:cNvPr id="100035" name="Layer2"/>
          <p:cNvSpPr txBox="1"/>
          <p:nvPr/>
        </p:nvSpPr>
        <p:spPr>
          <a:xfrm xmlns:a="http://schemas.openxmlformats.org/drawingml/2006/main">
            <a:off x="720000" y="1944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B82F6"/>
                </a:solidFill>
              </a:rPr>
              <a:t>LAYER 2 — MCP SERVER  (Node.js / TypeScript)</a:t>
            </a:r>
          </a:p>
        </p:txBody>
      </p:sp>
      <p:sp>
        <p:nvSpPr>
          <p:cNvPr id="100036" name="MCPTools"/>
          <p:cNvSpPr txBox="1"/>
          <p:nvPr/>
        </p:nvSpPr>
        <p:spPr>
          <a:xfrm xmlns:a="http://schemas.openxmlformats.org/drawingml/2006/main">
            <a:off x="720000" y="2196000"/>
            <a:ext cx="104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6EDF3"/>
                </a:solidFill>
              </a:rPr>
              <a:t>get_sensor_readings  ·  analyze_sensor_data  ·  detect_anomalies  ·  run_predictive_model  ·  get_maintenance_recommendations</a:t>
            </a:r>
          </a:p>
        </p:txBody>
      </p:sp>
      <p:sp>
        <p:nvSpPr>
          <p:cNvPr id="100037" name="ArrowD2"/>
          <p:cNvSpPr txBox="1"/>
          <p:nvPr/>
        </p:nvSpPr>
        <p:spPr>
          <a:xfrm xmlns:a="http://schemas.openxmlformats.org/drawingml/2006/main">
            <a:off x="5400000" y="2628000"/>
            <a:ext cx="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↓</a:t>
            </a:r>
          </a:p>
        </p:txBody>
      </p:sp>
      <p:sp>
        <p:nvSpPr>
          <p:cNvPr id="100038" name="Layer3"/>
          <p:cNvSpPr txBox="1"/>
          <p:nvPr/>
        </p:nvSpPr>
        <p:spPr>
          <a:xfrm xmlns:a="http://schemas.openxmlformats.org/drawingml/2006/main">
            <a:off x="720000" y="288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22C55E"/>
                </a:solidFill>
              </a:rPr>
              <a:t>LAYER 3 — IBM BOB AI INTEGRATION</a:t>
            </a:r>
          </a:p>
        </p:txBody>
      </p:sp>
      <p:sp>
        <p:nvSpPr>
          <p:cNvPr id="100039" name="BobLayer"/>
          <p:cNvSpPr txBox="1"/>
          <p:nvPr/>
        </p:nvSpPr>
        <p:spPr>
          <a:xfrm xmlns:a="http://schemas.openxmlformats.org/drawingml/2006/main">
            <a:off x="720000" y="3132000"/>
            <a:ext cx="104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6EDF3"/>
                </a:solidFill>
              </a:rPr>
              <a:t>Custom Mode: bridge-monitor  ·  Skill: bridge-health-analysis (9 steps)  ·  MCP registration in mcp.json</a:t>
            </a:r>
          </a:p>
        </p:txBody>
      </p:sp>
      <p:sp>
        <p:nvSpPr>
          <p:cNvPr id="100040" name="ArrowD3"/>
          <p:cNvSpPr txBox="1"/>
          <p:nvPr/>
        </p:nvSpPr>
        <p:spPr>
          <a:xfrm xmlns:a="http://schemas.openxmlformats.org/drawingml/2006/main">
            <a:off x="5400000" y="3564000"/>
            <a:ext cx="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↓</a:t>
            </a:r>
          </a:p>
        </p:txBody>
      </p:sp>
      <p:sp>
        <p:nvSpPr>
          <p:cNvPr id="100041" name="Layer4"/>
          <p:cNvSpPr txBox="1"/>
          <p:nvPr/>
        </p:nvSpPr>
        <p:spPr>
          <a:xfrm xmlns:a="http://schemas.openxmlformats.org/drawingml/2006/main">
            <a:off x="720000" y="3816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59E0B"/>
                </a:solidFill>
              </a:rPr>
              <a:t>LAYER 4 — WEB DASHBOARD  (HTML / CSS / JS — Zero Dependencies)</a:t>
            </a:r>
          </a:p>
        </p:txBody>
      </p:sp>
      <p:sp>
        <p:nvSpPr>
          <p:cNvPr id="100042" name="WebLayer"/>
          <p:cNvSpPr txBox="1"/>
          <p:nvPr/>
        </p:nvSpPr>
        <p:spPr>
          <a:xfrm xmlns:a="http://schemas.openxmlformats.org/drawingml/2006/main">
            <a:off x="720000" y="4068000"/>
            <a:ext cx="104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6EDF3"/>
                </a:solidFill>
              </a:rPr>
              <a:t>Dashboard  ·  Sensor Monitor  ·  Anomaly Detection  ·  Predictive Model  ·  Maintenance Plan  ·  Report  ·  AI Chat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43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F97316"/>
              </a:solidFill>
            </a:endParaRPr>
          </a:p>
        </p:txBody>
      </p:sp>
      <p:sp>
        <p:nvSpPr>
          <p:cNvPr id="100044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05</a:t>
            </a:r>
          </a:p>
        </p:txBody>
      </p:sp>
      <p:sp>
        <p:nvSpPr>
          <p:cNvPr id="100045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Key Feature — Live Sensor Dashboard</a:t>
            </a:r>
          </a:p>
        </p:txBody>
      </p:sp>
      <p:sp>
        <p:nvSpPr>
          <p:cNvPr id="100046" name="FeatureTag"/>
          <p:cNvSpPr txBox="1"/>
          <p:nvPr/>
        </p:nvSpPr>
        <p:spPr>
          <a:xfrm xmlns:a="http://schemas.openxmlformats.org/drawingml/2006/main">
            <a:off x="720000" y="86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97316"/>
                </a:solidFill>
              </a:rPr>
              <a:t>STAR FEATURE: Real-time anomaly detection + predictive RUL modelling in one view</a:t>
            </a:r>
          </a:p>
        </p:txBody>
      </p:sp>
      <p:sp>
        <p:nvSpPr>
          <p:cNvPr id="100047" name="KPI1"/>
          <p:cNvSpPr txBox="1"/>
          <p:nvPr/>
        </p:nvSpPr>
        <p:spPr>
          <a:xfrm xmlns:a="http://schemas.openxmlformats.org/drawingml/2006/main">
            <a:off x="720000" y="1224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59E0B"/>
                </a:solidFill>
              </a:rPr>
              <a:t>🩺</a:t>
            </a:r>
          </a:p>
          <a:p xmlns:a="http://schemas.openxmlformats.org/drawingml/2006/main">
            <a:r>
              <a:rPr lang="en-US" sz="1800" b="0">
                <a:solidFill>
                  <a:srgbClr val="F59E0B"/>
                </a:solidFill>
              </a:rPr>
              <a:t>62</a:t>
            </a:r>
          </a:p>
          <a:p xmlns:a="http://schemas.openxmlformats.org/drawingml/2006/main">
            <a:r>
              <a:rPr lang="en-US" sz="1800" b="0">
                <a:solidFill>
                  <a:srgbClr val="F59E0B"/>
                </a:solidFill>
              </a:rPr>
              <a:t>Health Score</a:t>
            </a:r>
          </a:p>
        </p:txBody>
      </p:sp>
      <p:sp>
        <p:nvSpPr>
          <p:cNvPr id="100048" name="KPI2"/>
          <p:cNvSpPr txBox="1"/>
          <p:nvPr/>
        </p:nvSpPr>
        <p:spPr>
          <a:xfrm xmlns:a="http://schemas.openxmlformats.org/drawingml/2006/main">
            <a:off x="3420000" y="1224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97316"/>
                </a:solidFill>
              </a:rPr>
              <a:t>🚦</a:t>
            </a:r>
          </a:p>
          <a:p xmlns:a="http://schemas.openxmlformats.org/drawingml/2006/main">
            <a:r>
              <a:rPr lang="en-US" sz="1800" b="0">
                <a:solidFill>
                  <a:srgbClr val="F97316"/>
                </a:solidFill>
              </a:rPr>
              <a:t>RESTRICTED</a:t>
            </a:r>
          </a:p>
          <a:p xmlns:a="http://schemas.openxmlformats.org/drawingml/2006/main">
            <a:r>
              <a:rPr lang="en-US" sz="1800" b="0">
                <a:solidFill>
                  <a:srgbClr val="F97316"/>
                </a:solidFill>
              </a:rPr>
              <a:t>Operational Status</a:t>
            </a:r>
          </a:p>
        </p:txBody>
      </p:sp>
      <p:sp>
        <p:nvSpPr>
          <p:cNvPr id="100049" name="KPI3"/>
          <p:cNvSpPr txBox="1"/>
          <p:nvPr/>
        </p:nvSpPr>
        <p:spPr>
          <a:xfrm xmlns:a="http://schemas.openxmlformats.org/drawingml/2006/main">
            <a:off x="6120000" y="1224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EF4444"/>
                </a:solidFill>
              </a:rPr>
              <a:t>⚠️</a:t>
            </a:r>
          </a:p>
          <a:p xmlns:a="http://schemas.openxmlformats.org/drawingml/2006/main">
            <a:r>
              <a:rPr lang="en-US" sz="1800" b="0">
                <a:solidFill>
                  <a:srgbClr val="EF4444"/>
                </a:solidFill>
              </a:rPr>
              <a:t>3</a:t>
            </a:r>
          </a:p>
          <a:p xmlns:a="http://schemas.openxmlformats.org/drawingml/2006/main">
            <a:r>
              <a:rPr lang="en-US" sz="1800" b="0">
                <a:solidFill>
                  <a:srgbClr val="EF4444"/>
                </a:solidFill>
              </a:rPr>
              <a:t>Active Alerts</a:t>
            </a:r>
          </a:p>
        </p:txBody>
      </p:sp>
      <p:sp>
        <p:nvSpPr>
          <p:cNvPr id="100050" name="KPI4"/>
          <p:cNvSpPr txBox="1"/>
          <p:nvPr/>
        </p:nvSpPr>
        <p:spPr>
          <a:xfrm xmlns:a="http://schemas.openxmlformats.org/drawingml/2006/main">
            <a:off x="8820000" y="1224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B82F6"/>
                </a:solidFill>
              </a:rPr>
              <a:t>📡</a:t>
            </a:r>
          </a:p>
          <a:p xmlns:a="http://schemas.openxmlformats.org/drawingml/2006/main">
            <a:r>
              <a:rPr lang="en-US" sz="1800" b="0">
                <a:solidFill>
                  <a:srgbClr val="3B82F6"/>
                </a:solidFill>
              </a:rPr>
              <a:t>6</a:t>
            </a:r>
          </a:p>
          <a:p xmlns:a="http://schemas.openxmlformats.org/drawingml/2006/main">
            <a:r>
              <a:rPr lang="en-US" sz="1800" b="0">
                <a:solidFill>
                  <a:srgbClr val="3B82F6"/>
                </a:solidFill>
              </a:rPr>
              <a:t>Live Sensors</a:t>
            </a:r>
          </a:p>
        </p:txBody>
      </p:sp>
      <p:sp>
        <p:nvSpPr>
          <p:cNvPr id="100051" name="AlertBox"/>
          <p:cNvSpPr txBox="1"/>
          <p:nvPr/>
        </p:nvSpPr>
        <p:spPr>
          <a:xfrm xmlns:a="http://schemas.openxmlformats.org/drawingml/2006/main">
            <a:off x="720000" y="2592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F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97316"/>
                </a:solidFill>
              </a:rPr>
              <a:t>HIGH  ›  S001-STRAIN-MID — 342 μstrain  (85.5% of design limit)  →  Fatigue assessment within 7 days</a:t>
            </a:r>
          </a:p>
        </p:txBody>
      </p:sp>
      <p:sp>
        <p:nvSpPr>
          <p:cNvPr id="100052" name="AlertBox2"/>
          <p:cNvSpPr txBox="1"/>
          <p:nvPr/>
        </p:nvSpPr>
        <p:spPr>
          <a:xfrm xmlns:a="http://schemas.openxmlformats.org/drawingml/2006/main">
            <a:off x="720000" y="2952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F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97316"/>
                </a:solidFill>
              </a:rPr>
              <a:t>HIGH  ›  S004-CORR-DECK — -410 mV(CSE)  (Active corrosion)  →  Cathodic protection survey within 7 days</a:t>
            </a:r>
          </a:p>
        </p:txBody>
      </p:sp>
      <p:sp>
        <p:nvSpPr>
          <p:cNvPr id="100053" name="AlertBox3"/>
          <p:cNvSpPr txBox="1"/>
          <p:nvPr/>
        </p:nvSpPr>
        <p:spPr>
          <a:xfrm xmlns:a="http://schemas.openxmlformats.org/drawingml/2006/main">
            <a:off x="720000" y="3312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0F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F59E0B"/>
                </a:solidFill>
              </a:rPr>
              <a:t>MEDIUM  ›  S003-VIB-PIER1 — 4.7 Hz  (Natural frequency shift detected)  →  Inspect bearings within 30 days</a:t>
            </a:r>
          </a:p>
        </p:txBody>
      </p:sp>
      <p:sp>
        <p:nvSpPr>
          <p:cNvPr id="100054" name="FlowDesc"/>
          <p:cNvSpPr txBox="1"/>
          <p:nvPr/>
        </p:nvSpPr>
        <p:spPr>
          <a:xfrm xmlns:a="http://schemas.openxmlformats.org/drawingml/2006/main">
            <a:off x="720000" y="3816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Sensors fire every 8 seconds  →  MCP tools analyse data  →  ARIA flags anomalies  →  Maintenance plan auto-generated  →  Report printed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55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B82F6"/>
              </a:solidFill>
            </a:endParaRPr>
          </a:p>
        </p:txBody>
      </p:sp>
      <p:sp>
        <p:nvSpPr>
          <p:cNvPr id="100056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06</a:t>
            </a:r>
          </a:p>
        </p:txBody>
      </p:sp>
      <p:sp>
        <p:nvSpPr>
          <p:cNvPr id="100057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IBM Technologies Used</a:t>
            </a:r>
          </a:p>
        </p:txBody>
      </p:sp>
      <p:sp>
        <p:nvSpPr>
          <p:cNvPr id="100058" name="Tech1Header"/>
          <p:cNvSpPr txBox="1"/>
          <p:nvPr/>
        </p:nvSpPr>
        <p:spPr>
          <a:xfrm xmlns:a="http://schemas.openxmlformats.org/drawingml/2006/main">
            <a:off x="720000" y="100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🤖  IBM Bob — Custom Mode</a:t>
            </a:r>
          </a:p>
        </p:txBody>
      </p:sp>
      <p:sp>
        <p:nvSpPr>
          <p:cNvPr id="100059" name="Tech1Body"/>
          <p:cNvSpPr txBox="1"/>
          <p:nvPr/>
        </p:nvSpPr>
        <p:spPr>
          <a:xfrm xmlns:a="http://schemas.openxmlformats.org/drawingml/2006/main">
            <a:off x="720000" y="1296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8B949E"/>
                </a:solidFill>
              </a:rPr>
              <a:t>Slug: bridge-monitor  ·  Persona: ARIA (civil engineering AI expert)  ·  Full tool permissions  ·  Auto-activates skill on session start</a:t>
            </a:r>
          </a:p>
        </p:txBody>
      </p:sp>
      <p:sp>
        <p:nvSpPr>
          <p:cNvPr id="100060" name="Tech2Header"/>
          <p:cNvSpPr txBox="1"/>
          <p:nvPr/>
        </p:nvSpPr>
        <p:spPr>
          <a:xfrm xmlns:a="http://schemas.openxmlformats.org/drawingml/2006/main">
            <a:off x="720000" y="180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22C55E"/>
                </a:solidFill>
              </a:rPr>
              <a:t>📘  IBM Bob — Custom Skill</a:t>
            </a:r>
          </a:p>
        </p:txBody>
      </p:sp>
      <p:sp>
        <p:nvSpPr>
          <p:cNvPr id="100061" name="Tech2Body"/>
          <p:cNvSpPr txBox="1"/>
          <p:nvPr/>
        </p:nvSpPr>
        <p:spPr>
          <a:xfrm xmlns:a="http://schemas.openxmlformats.org/drawingml/2006/main">
            <a:off x="720000" y="2088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8B949E"/>
                </a:solidFill>
              </a:rPr>
              <a:t>Name: bridge-health-analysis  ·  9-step procedural workflow  ·  Auto-invoked when user mentions bridge analysis  ·  Covers ingest → assess → predict → report</a:t>
            </a:r>
          </a:p>
        </p:txBody>
      </p:sp>
      <p:sp>
        <p:nvSpPr>
          <p:cNvPr id="100062" name="Tech3Header"/>
          <p:cNvSpPr txBox="1"/>
          <p:nvPr/>
        </p:nvSpPr>
        <p:spPr>
          <a:xfrm xmlns:a="http://schemas.openxmlformats.org/drawingml/2006/main">
            <a:off x="720000" y="2592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A855F7"/>
                </a:solidFill>
              </a:rPr>
              <a:t>🔌  IBM Bob — MCP Server Integration</a:t>
            </a:r>
          </a:p>
        </p:txBody>
      </p:sp>
      <p:sp>
        <p:nvSpPr>
          <p:cNvPr id="100063" name="Tech3Body"/>
          <p:cNvSpPr txBox="1"/>
          <p:nvPr/>
        </p:nvSpPr>
        <p:spPr>
          <a:xfrm xmlns:a="http://schemas.openxmlformats.org/drawingml/2006/main">
            <a:off x="720000" y="2880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8B949E"/>
                </a:solidFill>
              </a:rPr>
              <a:t>9 registered tools: sensor readings, anomaly detection, predictive models, maintenance recommendations  ·  TypeScript / Node.js  ·  stdio transport  ·  Registered in ~/.bob/settings/mcp.json</a:t>
            </a:r>
          </a:p>
        </p:txBody>
      </p:sp>
      <p:sp>
        <p:nvSpPr>
          <p:cNvPr id="100064" name="SummaryRow"/>
          <p:cNvSpPr txBox="1"/>
          <p:nvPr/>
        </p:nvSpPr>
        <p:spPr>
          <a:xfrm xmlns:a="http://schemas.openxmlformats.org/drawingml/2006/main">
            <a:off x="720000" y="3672000"/>
            <a:ext cx="1044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8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Custom Mode  +  Custom Skill  +  MCP Server  =  Full IBM Bob AI Integration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65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2C55E"/>
              </a:solidFill>
            </a:endParaRPr>
          </a:p>
        </p:txBody>
      </p:sp>
      <p:sp>
        <p:nvSpPr>
          <p:cNvPr id="100066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07</a:t>
            </a:r>
          </a:p>
        </p:txBody>
      </p:sp>
      <p:sp>
        <p:nvSpPr>
          <p:cNvPr id="100067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Results &amp; Impact</a:t>
            </a:r>
          </a:p>
        </p:txBody>
      </p:sp>
      <p:sp>
        <p:nvSpPr>
          <p:cNvPr id="100068" name="Metric1Val"/>
          <p:cNvSpPr txBox="1"/>
          <p:nvPr/>
        </p:nvSpPr>
        <p:spPr>
          <a:xfrm xmlns:a="http://schemas.openxmlformats.org/drawingml/2006/main">
            <a:off x="720000" y="1008000"/>
            <a:ext cx="25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22C55E"/>
                </a:solidFill>
              </a:rPr>
              <a:t>60%</a:t>
            </a:r>
          </a:p>
        </p:txBody>
      </p:sp>
      <p:sp>
        <p:nvSpPr>
          <p:cNvPr id="100069" name="Metric1Label"/>
          <p:cNvSpPr txBox="1"/>
          <p:nvPr/>
        </p:nvSpPr>
        <p:spPr>
          <a:xfrm xmlns:a="http://schemas.openxmlformats.org/drawingml/2006/main">
            <a:off x="720000" y="1944000"/>
            <a:ext cx="25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Reduction in maintenance cost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vs. reactive maintenance</a:t>
            </a:r>
          </a:p>
        </p:txBody>
      </p:sp>
      <p:sp>
        <p:nvSpPr>
          <p:cNvPr id="100070" name="Metric2Val"/>
          <p:cNvSpPr txBox="1"/>
          <p:nvPr/>
        </p:nvSpPr>
        <p:spPr>
          <a:xfrm xmlns:a="http://schemas.openxmlformats.org/drawingml/2006/main">
            <a:off x="3600000" y="1008000"/>
            <a:ext cx="25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3B82F6"/>
                </a:solidFill>
              </a:rPr>
              <a:t>&lt; 1s</a:t>
            </a:r>
          </a:p>
        </p:txBody>
      </p:sp>
      <p:sp>
        <p:nvSpPr>
          <p:cNvPr id="100071" name="Metric2Label"/>
          <p:cNvSpPr txBox="1"/>
          <p:nvPr/>
        </p:nvSpPr>
        <p:spPr>
          <a:xfrm xmlns:a="http://schemas.openxmlformats.org/drawingml/2006/main">
            <a:off x="3600000" y="1944000"/>
            <a:ext cx="25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Alert response time from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sensor threshold breach</a:t>
            </a:r>
          </a:p>
        </p:txBody>
      </p:sp>
      <p:sp>
        <p:nvSpPr>
          <p:cNvPr id="100072" name="Metric3Val"/>
          <p:cNvSpPr txBox="1"/>
          <p:nvPr/>
        </p:nvSpPr>
        <p:spPr>
          <a:xfrm xmlns:a="http://schemas.openxmlformats.org/drawingml/2006/main">
            <a:off x="6480000" y="1008000"/>
            <a:ext cx="25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59E0B"/>
                </a:solidFill>
              </a:rPr>
              <a:t>80%</a:t>
            </a:r>
          </a:p>
        </p:txBody>
      </p:sp>
      <p:sp>
        <p:nvSpPr>
          <p:cNvPr id="100073" name="Metric3Label"/>
          <p:cNvSpPr txBox="1"/>
          <p:nvPr/>
        </p:nvSpPr>
        <p:spPr>
          <a:xfrm xmlns:a="http://schemas.openxmlformats.org/drawingml/2006/main">
            <a:off x="6480000" y="1944000"/>
            <a:ext cx="25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Reduction in catastrophic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failure probability</a:t>
            </a:r>
          </a:p>
        </p:txBody>
      </p:sp>
      <p:sp>
        <p:nvSpPr>
          <p:cNvPr id="100074" name="Metric4Val"/>
          <p:cNvSpPr txBox="1"/>
          <p:nvPr/>
        </p:nvSpPr>
        <p:spPr>
          <a:xfrm xmlns:a="http://schemas.openxmlformats.org/drawingml/2006/main">
            <a:off x="9360000" y="1008000"/>
            <a:ext cx="198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A855F7"/>
                </a:solidFill>
              </a:rPr>
              <a:t>24/7</a:t>
            </a:r>
          </a:p>
        </p:txBody>
      </p:sp>
      <p:sp>
        <p:nvSpPr>
          <p:cNvPr id="100075" name="Metric4Label"/>
          <p:cNvSpPr txBox="1"/>
          <p:nvPr/>
        </p:nvSpPr>
        <p:spPr>
          <a:xfrm xmlns:a="http://schemas.openxmlformats.org/drawingml/2006/main">
            <a:off x="9360000" y="1944000"/>
            <a:ext cx="19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Continuous monitoring</a:t>
            </a:r>
          </a:p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vs. 2-year inspection cycles</a:t>
            </a:r>
          </a:p>
        </p:txBody>
      </p:sp>
      <p:sp>
        <p:nvSpPr>
          <p:cNvPr id="100076" name="Standards"/>
          <p:cNvSpPr txBox="1"/>
          <p:nvPr/>
        </p:nvSpPr>
        <p:spPr>
          <a:xfrm xmlns:a="http://schemas.openxmlformats.org/drawingml/2006/main">
            <a:off x="720000" y="2664000"/>
            <a:ext cx="104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6B7280"/>
                </a:solidFill>
              </a:rPr>
              <a:t>Standards Compliance:  AASHTO LRFD 9th Ed.  ·  AASHTO MBE 3rd Ed.  ·  Eurocode EN 1337  ·  BS 5400  ·  ISO 13822  ·  ASTM C876</a:t>
            </a:r>
          </a:p>
        </p:txBody>
      </p:sp>
      <p:sp>
        <p:nvSpPr>
          <p:cNvPr id="100077" name="SuccessCaption"/>
          <p:cNvSpPr txBox="1"/>
          <p:nvPr/>
        </p:nvSpPr>
        <p:spPr>
          <a:xfrm xmlns:a="http://schemas.openxmlformats.org/drawingml/2006/main">
            <a:off x="720000" y="324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E6EDF3"/>
                </a:solidFill>
              </a:rPr>
              <a:t>Success = every bridge engineer gets a real-time AI copilot that prevents failures before they happen.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78" name="Top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3B82F6"/>
              </a:solidFill>
            </a:endParaRPr>
          </a:p>
        </p:txBody>
      </p:sp>
      <p:sp>
        <p:nvSpPr>
          <p:cNvPr id="100079" name="SlideNum"/>
          <p:cNvSpPr txBox="1"/>
          <p:nvPr/>
        </p:nvSpPr>
        <p:spPr>
          <a:xfrm xmlns:a="http://schemas.openxmlformats.org/drawingml/2006/main">
            <a:off x="10800000" y="180000"/>
            <a:ext cx="9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484F58"/>
                </a:solidFill>
              </a:rPr>
              <a:t>08</a:t>
            </a:r>
          </a:p>
        </p:txBody>
      </p:sp>
      <p:sp>
        <p:nvSpPr>
          <p:cNvPr id="100080" name="SlideTitle"/>
          <p:cNvSpPr txBox="1"/>
          <p:nvPr/>
        </p:nvSpPr>
        <p:spPr>
          <a:xfrm xmlns:a="http://schemas.openxmlformats.org/drawingml/2006/main">
            <a:off x="720000" y="288000"/>
            <a:ext cx="90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Our Team — InfraAI</a:t>
            </a:r>
          </a:p>
        </p:txBody>
      </p:sp>
      <p:sp>
        <p:nvSpPr>
          <p:cNvPr id="100081" name="Member1"/>
          <p:cNvSpPr txBox="1"/>
          <p:nvPr/>
        </p:nvSpPr>
        <p:spPr>
          <a:xfrm xmlns:a="http://schemas.openxmlformats.org/drawingml/2006/main">
            <a:off x="720000" y="1080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👤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[Your Name]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Team Lead &amp; AI Architect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Bob mode, skill design,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project vision &amp; integration</a:t>
            </a:r>
          </a:p>
        </p:txBody>
      </p:sp>
      <p:sp>
        <p:nvSpPr>
          <p:cNvPr id="100082" name="Member2"/>
          <p:cNvSpPr txBox="1"/>
          <p:nvPr/>
        </p:nvSpPr>
        <p:spPr>
          <a:xfrm xmlns:a="http://schemas.openxmlformats.org/drawingml/2006/main">
            <a:off x="3600000" y="1080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👤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[Team Member 2]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Backend Engineer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MCP server (TypeScript)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9 tools, sensor models</a:t>
            </a:r>
          </a:p>
        </p:txBody>
      </p:sp>
      <p:sp>
        <p:nvSpPr>
          <p:cNvPr id="100083" name="Member3"/>
          <p:cNvSpPr txBox="1"/>
          <p:nvPr/>
        </p:nvSpPr>
        <p:spPr>
          <a:xfrm xmlns:a="http://schemas.openxmlformats.org/drawingml/2006/main">
            <a:off x="6480000" y="1080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👤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[Team Member 3]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Frontend Engineer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Web dashboard (SPA)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7 pages, canvas charts</a:t>
            </a:r>
          </a:p>
        </p:txBody>
      </p:sp>
      <p:sp>
        <p:nvSpPr>
          <p:cNvPr id="100084" name="Member4"/>
          <p:cNvSpPr txBox="1"/>
          <p:nvPr/>
        </p:nvSpPr>
        <p:spPr>
          <a:xfrm xmlns:a="http://schemas.openxmlformats.org/drawingml/2006/main">
            <a:off x="9360000" y="1080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👤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[Team Member 4]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Civil Engineering Advisor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Standards compliance</a:t>
            </a:r>
          </a:p>
          <a:p xmlns:a="http://schemas.openxmlformats.org/drawingml/2006/main">
            <a:r>
              <a:rPr lang="en-US" sz="1700">
                <a:solidFill>
                  <a:srgbClr val="E6EDF3"/>
                </a:solidFill>
              </a:rPr>
              <a:t>Sensor placement strategy</a:t>
            </a:r>
          </a:p>
        </p:txBody>
      </p:sp>
      <p:sp>
        <p:nvSpPr>
          <p:cNvPr id="100085" name="BottomQuote"/>
          <p:cNvSpPr txBox="1"/>
          <p:nvPr/>
        </p:nvSpPr>
        <p:spPr>
          <a:xfrm xmlns:a="http://schemas.openxmlformats.org/drawingml/2006/main">
            <a:off x="720000" y="360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B82F6"/>
                </a:solidFill>
              </a:rPr>
              <a:t>"Built in 48 hours — monitoring bridges so engineers don't have to guess."</a:t>
            </a:r>
          </a:p>
        </p:txBody>
      </p:sp>
      <p:sp>
        <p:nvSpPr>
          <p:cNvPr id="100086" name="RepoLine"/>
          <p:cNvSpPr txBox="1"/>
          <p:nvPr/>
        </p:nvSpPr>
        <p:spPr>
          <a:xfrm xmlns:a="http://schemas.openxmlformats.org/drawingml/2006/main">
            <a:off x="720000" y="4104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484F58"/>
                </a:solidFill>
              </a:rPr>
              <a:t>GitHub: github.com/your-repo/aria-bridge-health  ·  App: bridge-health-app/index.html  ·  IBM Bob Mode: bridge-monitor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2026-09-14T07:22:27Z</dcterms:created>
  <cp:lastModifiedBy>OfficeCLI</cp:lastModifiedBy>
  <dcterms:modified xsi:type="dcterms:W3CDTF">2026-09-14T07:22:27Z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2026-09-14T07:22:30Z</vt:lpwstr>
  </op:property>
</op:Properties>
</file>